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0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7d0d8454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7d0d8454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6ffc9b23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6ffc9b23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ffc9b2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ffc9b2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6ffc9b23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6ffc9b23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6ffc9b23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6ffc9b23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6ffc9b236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6ffc9b236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600"/>
              <a:buNone/>
              <a:defRPr sz="2600">
                <a:solidFill>
                  <a:srgbClr val="F3F3F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 sz="1200">
                <a:solidFill>
                  <a:srgbClr val="F3F3F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600"/>
              <a:buNone/>
              <a:defRPr sz="26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0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>
                <a:solidFill>
                  <a:srgbClr val="F3F3F3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720950" y="1066488"/>
            <a:ext cx="4300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>
                <a:solidFill>
                  <a:srgbClr val="F3F3F3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chitecture Image">
  <p:cSld name="TITLE_ONL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625" y="3716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rgbClr val="F3F3F3"/>
                </a:solidFill>
              </a:defRPr>
            </a:lvl1pPr>
            <a:lvl2pPr lvl="1">
              <a:buNone/>
              <a:defRPr sz="1300">
                <a:solidFill>
                  <a:srgbClr val="F3F3F3"/>
                </a:solidFill>
              </a:defRPr>
            </a:lvl2pPr>
            <a:lvl3pPr lvl="2">
              <a:buNone/>
              <a:defRPr sz="1300">
                <a:solidFill>
                  <a:srgbClr val="F3F3F3"/>
                </a:solidFill>
              </a:defRPr>
            </a:lvl3pPr>
            <a:lvl4pPr lvl="3">
              <a:buNone/>
              <a:defRPr sz="1300">
                <a:solidFill>
                  <a:srgbClr val="F3F3F3"/>
                </a:solidFill>
              </a:defRPr>
            </a:lvl4pPr>
            <a:lvl5pPr lvl="4">
              <a:buNone/>
              <a:defRPr sz="1300">
                <a:solidFill>
                  <a:srgbClr val="F3F3F3"/>
                </a:solidFill>
              </a:defRPr>
            </a:lvl5pPr>
            <a:lvl6pPr lvl="5">
              <a:buNone/>
              <a:defRPr sz="1300">
                <a:solidFill>
                  <a:srgbClr val="F3F3F3"/>
                </a:solidFill>
              </a:defRPr>
            </a:lvl6pPr>
            <a:lvl7pPr lvl="6">
              <a:buNone/>
              <a:defRPr sz="1300">
                <a:solidFill>
                  <a:srgbClr val="F3F3F3"/>
                </a:solidFill>
              </a:defRPr>
            </a:lvl7pPr>
            <a:lvl8pPr lvl="7">
              <a:buNone/>
              <a:defRPr sz="1300">
                <a:solidFill>
                  <a:srgbClr val="F3F3F3"/>
                </a:solidFill>
              </a:defRPr>
            </a:lvl8pPr>
            <a:lvl9pPr lvl="8">
              <a:buNone/>
              <a:defRPr sz="1300">
                <a:solidFill>
                  <a:srgbClr val="F3F3F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90B2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ACCE6"/>
              </a:buClr>
              <a:buSzPts val="3000"/>
              <a:buFont typeface="Inter"/>
              <a:buNone/>
              <a:defRPr sz="3000">
                <a:solidFill>
                  <a:srgbClr val="5ACCE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 sz="1200">
                <a:solidFill>
                  <a:srgbClr val="F3F3F3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591500" y="139125"/>
            <a:ext cx="394650" cy="394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0"/>
            <a:ext cx="914394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/>
          <p:nvPr/>
        </p:nvSpPr>
        <p:spPr>
          <a:xfrm>
            <a:off x="0" y="4537550"/>
            <a:ext cx="9144000" cy="60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22" y="944643"/>
            <a:ext cx="2558950" cy="8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ctrTitle" idx="4294967295"/>
          </p:nvPr>
        </p:nvSpPr>
        <p:spPr>
          <a:xfrm>
            <a:off x="271275" y="1675300"/>
            <a:ext cx="5084700" cy="166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Advisory Board Meeting</a:t>
            </a:r>
            <a:endParaRPr sz="20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February 13th, 2026</a:t>
            </a:r>
            <a:endParaRPr sz="1600">
              <a:solidFill>
                <a:srgbClr val="FFFFFF"/>
              </a:solidFill>
            </a:endParaRPr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1050" y="4625125"/>
            <a:ext cx="1312151" cy="4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925" y="4703600"/>
            <a:ext cx="2613375" cy="2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311700" y="886150"/>
            <a:ext cx="8709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4k stars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on GitHub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OHIF and Cornerstone represent </a:t>
            </a: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of top 10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NCI-ITCR tagged libraries on Github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#1 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active medical-imaging project on GitHub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189 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GitHub contributors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 1,400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Slack members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Inter"/>
              <a:buChar char="●"/>
            </a:pPr>
            <a:r>
              <a:rPr lang="en">
                <a:solidFill>
                  <a:srgbClr val="5ACCE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 1,300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newsletter subscribers </a:t>
            </a:r>
            <a:endParaRPr>
              <a:solidFill>
                <a:srgbClr val="5ACCE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Community Metrics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/>
        </p:nvSpPr>
        <p:spPr>
          <a:xfrm>
            <a:off x="255525" y="1161150"/>
            <a:ext cx="39510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NCI Imaging Data Commons (IDC)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National Institute of Biomedical Imaging and Bioengineering (NIBIB)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NHLBI BioData Catalyst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NIAID Tuberculosis Portal / Depot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NCI Early Detection Research Network's archive service (LabCAS)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The Cancer Imaging Archive (TCIA)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4294967295"/>
          </p:nvPr>
        </p:nvSpPr>
        <p:spPr>
          <a:xfrm>
            <a:off x="311700" y="244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Adoption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55525" y="2980175"/>
            <a:ext cx="48249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Institute for Systems Biology Cancer Genomics Cloud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eXtensible Neuroimaging Archive Toolkit (XNAT)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Osirix Foundation's Kheops Image Sharing platform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DKFZ Joint Imaging Platform and d:cipher (11 sites)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FUBerlin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QIPCM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ARPA-H Medical Imaging and Data Resource Center (MIDRC)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4294967295"/>
          </p:nvPr>
        </p:nvSpPr>
        <p:spPr>
          <a:xfrm>
            <a:off x="255525" y="7013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Academic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4294967295"/>
          </p:nvPr>
        </p:nvSpPr>
        <p:spPr>
          <a:xfrm>
            <a:off x="4708325" y="7013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Industry</a:t>
            </a:r>
            <a:endParaRPr sz="2200">
              <a:solidFill>
                <a:srgbClr val="FFFFFF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191475" y="1161150"/>
            <a:ext cx="3564600" cy="30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Google funded integration with Cloud Healthcare API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OHIF integration with AWS Healthlake 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Microsoft DICOMweb Server includes OHIF by default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Siemens integration with teamplay platform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NVIDIA MONAI includes OHIF for web 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Startups</a:t>
            </a:r>
            <a:endParaRPr sz="13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○"/>
            </a:pP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Yunu, Gradient Health, Pixilib</a:t>
            </a:r>
            <a:b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Viz.ai, New Lantern, FlyWheel,</a:t>
            </a:r>
            <a:b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Pliny, Detect-ED-X, Ascend,</a:t>
            </a:r>
            <a:b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3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VUNO, Infervision and more</a:t>
            </a:r>
            <a:endParaRPr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NIH Informatics Technology for Cancer Research (ITCR) U24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Five year sustainment grant through 2028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Year 4 begins May 2026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~$335k direct cost/year to cover development (0.8 FTE per year)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Eligible to apply for ~$62k additional set-aside funding each grant year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Prior set-aside collaborations include: Wash U pre-clinical 4D mode, UW eContour upgrade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year combined set-aside collaboration with FU Berlin currently pending award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NIH R03 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Two year grant through August 2027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~$142k direct cost/year to cover development, testing, and docs (0.5 FTE per year)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Current Funding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April 2025: 3.10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Expanded labelmap segmentation tool suite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features: SAM tool, one-click GPU-accelerated segmentation, undo/redo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August 2025: 3.11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Added multi-modality utility tools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features: Viewport fusion UI, RT Dose overlay, multi-planar RTSS visualization, lung ultrasound mode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February 2026: 3.12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Added contour tool suite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features: Freehand, livewire, spline, and sculpt tools, logical operations (combine and modify contours), unified contour and labelmap segmentation panel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OHIF Governance Framework released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Current Grant Year Summary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Stabilization and optimization of segmentation suite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FHIR PACS integration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New study list design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Migration to UI-next component library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Char char="●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Community-driven fixes: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Rendering performance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Calibration and measurement update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○"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Improved security patching process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OHIF 3.13 Roadmap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311700" y="927800"/>
            <a:ext cx="8709300" cy="41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Indication from the community is that OHIF needs to catch up on quality and stability after a heavy focus on feature expansion.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Currently, the focus of OHIF 3.13 is stability and optimization, with the only new features being those with low impact to core architecture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Stability and quality will be a long term focus, extending beyond the next version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remain: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can we sustainably expand OHIF’s feature suite without incurring additional technical debt, given the limited resourcing availability?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can we ease the community burden of upgrading OHIF versions, and reduce the number of projects that decide to fork OHIF rather than stay current?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Char char="●"/>
            </a:pPr>
            <a:r>
              <a:rPr lang="en" sz="14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additional materials/guidance would you like to see provided with each OHIF release?</a:t>
            </a:r>
            <a:endParaRPr sz="14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If your teams have experiences related to this, please share!</a:t>
            </a:r>
            <a:endParaRPr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0" name="Google Shape;10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Discussion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On-screen Show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Inter SemiBold</vt:lpstr>
      <vt:lpstr>Inter</vt:lpstr>
      <vt:lpstr>Arial</vt:lpstr>
      <vt:lpstr>Simple Light</vt:lpstr>
      <vt:lpstr>Advisory Board Meeting February 13th, 2026</vt:lpstr>
      <vt:lpstr>Community Metrics</vt:lpstr>
      <vt:lpstr>Adoption</vt:lpstr>
      <vt:lpstr>Current Funding</vt:lpstr>
      <vt:lpstr>Current Grant Year Summary</vt:lpstr>
      <vt:lpstr>OHIF 3.13 Roadmap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Hanks, James</cp:lastModifiedBy>
  <cp:revision>1</cp:revision>
  <dcterms:modified xsi:type="dcterms:W3CDTF">2026-02-11T21:53:02Z</dcterms:modified>
</cp:coreProperties>
</file>