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6ffc9b23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6ffc9b23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6ffc9b23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6ffc9b23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1447ad0a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1447ad0a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6ffc9b23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6ffc9b23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8cdc2b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8cdc2b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600"/>
              <a:buNone/>
              <a:defRPr sz="2600">
                <a:solidFill>
                  <a:srgbClr val="F3F3F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 sz="1200">
                <a:solidFill>
                  <a:srgbClr val="F3F3F3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600"/>
              <a:buNone/>
              <a:defRPr sz="26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430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>
                <a:solidFill>
                  <a:srgbClr val="F3F3F3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720950" y="1066488"/>
            <a:ext cx="430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>
                <a:solidFill>
                  <a:srgbClr val="F3F3F3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chitecture Image">
  <p:cSld name="TITLE_ONLY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625" y="371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F3F3F3"/>
                </a:solidFill>
              </a:defRPr>
            </a:lvl1pPr>
            <a:lvl2pPr lvl="1">
              <a:buNone/>
              <a:defRPr sz="1300">
                <a:solidFill>
                  <a:srgbClr val="F3F3F3"/>
                </a:solidFill>
              </a:defRPr>
            </a:lvl2pPr>
            <a:lvl3pPr lvl="2">
              <a:buNone/>
              <a:defRPr sz="1300">
                <a:solidFill>
                  <a:srgbClr val="F3F3F3"/>
                </a:solidFill>
              </a:defRPr>
            </a:lvl3pPr>
            <a:lvl4pPr lvl="3">
              <a:buNone/>
              <a:defRPr sz="1300">
                <a:solidFill>
                  <a:srgbClr val="F3F3F3"/>
                </a:solidFill>
              </a:defRPr>
            </a:lvl4pPr>
            <a:lvl5pPr lvl="4">
              <a:buNone/>
              <a:defRPr sz="1300">
                <a:solidFill>
                  <a:srgbClr val="F3F3F3"/>
                </a:solidFill>
              </a:defRPr>
            </a:lvl5pPr>
            <a:lvl6pPr lvl="5">
              <a:buNone/>
              <a:defRPr sz="1300">
                <a:solidFill>
                  <a:srgbClr val="F3F3F3"/>
                </a:solidFill>
              </a:defRPr>
            </a:lvl6pPr>
            <a:lvl7pPr lvl="6">
              <a:buNone/>
              <a:defRPr sz="1300">
                <a:solidFill>
                  <a:srgbClr val="F3F3F3"/>
                </a:solidFill>
              </a:defRPr>
            </a:lvl7pPr>
            <a:lvl8pPr lvl="7">
              <a:buNone/>
              <a:defRPr sz="1300">
                <a:solidFill>
                  <a:srgbClr val="F3F3F3"/>
                </a:solidFill>
              </a:defRPr>
            </a:lvl8pPr>
            <a:lvl9pPr lvl="8">
              <a:buNone/>
              <a:defRPr sz="1300">
                <a:solidFill>
                  <a:srgbClr val="F3F3F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90B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ACCE6"/>
              </a:buClr>
              <a:buSzPts val="3000"/>
              <a:buFont typeface="Inter"/>
              <a:buNone/>
              <a:defRPr sz="3000">
                <a:solidFill>
                  <a:srgbClr val="5ACCE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 sz="1200">
                <a:solidFill>
                  <a:srgbClr val="F3F3F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91500" y="139125"/>
            <a:ext cx="394650" cy="3946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0"/>
            <a:ext cx="914394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/>
          <p:nvPr/>
        </p:nvSpPr>
        <p:spPr>
          <a:xfrm>
            <a:off x="0" y="4537550"/>
            <a:ext cx="9144000" cy="60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822" y="944643"/>
            <a:ext cx="2558950" cy="8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/>
          <p:nvPr>
            <p:ph idx="4294967295" type="ctrTitle"/>
          </p:nvPr>
        </p:nvSpPr>
        <p:spPr>
          <a:xfrm>
            <a:off x="271275" y="1675300"/>
            <a:ext cx="5084700" cy="16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Advisory Board Meeting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September 22, 2026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54" name="Google Shape;54;p11"/>
          <p:cNvSpPr txBox="1"/>
          <p:nvPr>
            <p:ph idx="4294967295" type="ctrTitle"/>
          </p:nvPr>
        </p:nvSpPr>
        <p:spPr>
          <a:xfrm>
            <a:off x="271275" y="3420295"/>
            <a:ext cx="3927300" cy="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1050" y="4625125"/>
            <a:ext cx="1312151" cy="4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925" y="4703600"/>
            <a:ext cx="2613375" cy="2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11700" y="863550"/>
            <a:ext cx="870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R03 Year 2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0.5 FTE developer: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FHIRcast extension (available now in OHIF 3.13), dcmjs 1.0 (next release in OHIF 3.14)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O.5 FTE developer: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Continual automated test coverage expansion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ITCR Year 4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Year 4 began May 1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0.8 FTE developer and 0.25 QA tester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Set-aside project with FU Berlin:</a:t>
            </a: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~ 4 months 1 FTE total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Potential Funding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OS4LS - submitted proposal for 2 years, $1m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Collaboration with IDC to create web-based, agentic friendly shared annotation repository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OHIF listed as collaborator on Slicer proposal (also for 2 years, $1m)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Funding Update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863550"/>
            <a:ext cx="870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Enabling Community Development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Updated contribution guidelines for automated testing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Created AI skill for community use when contributing tests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 progress: 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Update public community guideline docs website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New contributor guidelines focused on enabling automation in PR review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Engagement and Marketing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Approved proposal to re-brand and market OHIF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Focus on brand awareness of the foundation and supported libraries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Re-launch social media and community campaigns with content updates, guides, etc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Extensibility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Added customization handler via URL parameter (#5992)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 progress: 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Simplify OHIF extension and mode creation (#6168)  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Action Based on Advisory Board Feedback May 2026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863550"/>
            <a:ext cx="870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Overview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OHIF ‘tablet mode’ prototype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Collaboration with FU Berlin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Performance improvements for low end devices, improved small screen UI support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Substantially increased automated test coverage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Projected to be &gt;60% coverage, moving towards goal of 80%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React 19 upgrade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Faster load, simpler components, better support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Updated codecs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HTJ2K performance, JPEG-XL quality, bug fixes, cleaner build setup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</a:t>
            </a: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cmjs support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Substantial rework (1.0 beta release), performance, and quality of life improvements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Currently in development.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OHIF 3.14 - Expected Release Late 2026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927800"/>
            <a:ext cx="8709300" cy="412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5 year NIH ITCR U24 funding ends April 2028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ITCR wants to know: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for 5 year renewal due June 2027. Proposals should include: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Forward looking innovations for the community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Clearly defined AI strategy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Sustainment plan for OHIF after ITCR funding ends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ACCE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 want to hear your perspective about the future of OHIF.</a:t>
            </a:r>
            <a:endParaRPr sz="1900">
              <a:solidFill>
                <a:srgbClr val="5ACCE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priorities would you like to see OHIF focus on over the next 5 years?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does OHIF not do now that it should do in the future?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can OHIF better support and interact with the imaging community at large?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Discussion: OHIF ITCR Funding Renewal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Discussion: Other Long Term Sustainment Funding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886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OHIF has a need to broaden sustainment funding </a:t>
            </a: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opportunities beyond ITCR. 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Examples of non-ITCR funding OHIF has secured: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Other grants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Chan Zuckerberg Initiative (2019-21, 2021-23)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Industry collaboration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Partnered with major CRO to develop CS3D tools (2023-24)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Research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Developed ultrasound mode with Brigham and Women’s Hospital (2025) 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OHIF briefly registered as a 501(c)(3) but decided against it due to upkeep (2016)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are your thoughts on pursuing these types of funding opportunities?</a:t>
            </a:r>
            <a:endParaRPr>
              <a:solidFill>
                <a:srgbClr val="5ACCE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would you like to see OHIF funded in the future to best serve our community?</a:t>
            </a:r>
            <a:endParaRPr>
              <a:solidFill>
                <a:srgbClr val="5ACCE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