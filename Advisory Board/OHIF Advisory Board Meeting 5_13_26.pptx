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6ffc9b23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6ffc9b23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ffc9b23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6ffc9b23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1447ad0a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1447ad0a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ffc9b2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ffc9b2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600"/>
              <a:buNone/>
              <a:defRPr sz="2600">
                <a:solidFill>
                  <a:srgbClr val="F3F3F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800"/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43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720950" y="1066488"/>
            <a:ext cx="430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>
                <a:solidFill>
                  <a:srgbClr val="F3F3F3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chitecture Image">
  <p:cSld name="TITLE_ONLY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625" y="371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04800" lvl="2" marL="13716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F3F3F3"/>
                </a:solidFill>
              </a:defRPr>
            </a:lvl1pPr>
            <a:lvl2pPr lvl="1">
              <a:buNone/>
              <a:defRPr sz="1300">
                <a:solidFill>
                  <a:srgbClr val="F3F3F3"/>
                </a:solidFill>
              </a:defRPr>
            </a:lvl2pPr>
            <a:lvl3pPr lvl="2">
              <a:buNone/>
              <a:defRPr sz="1300">
                <a:solidFill>
                  <a:srgbClr val="F3F3F3"/>
                </a:solidFill>
              </a:defRPr>
            </a:lvl3pPr>
            <a:lvl4pPr lvl="3">
              <a:buNone/>
              <a:defRPr sz="1300">
                <a:solidFill>
                  <a:srgbClr val="F3F3F3"/>
                </a:solidFill>
              </a:defRPr>
            </a:lvl4pPr>
            <a:lvl5pPr lvl="4">
              <a:buNone/>
              <a:defRPr sz="1300">
                <a:solidFill>
                  <a:srgbClr val="F3F3F3"/>
                </a:solidFill>
              </a:defRPr>
            </a:lvl5pPr>
            <a:lvl6pPr lvl="5">
              <a:buNone/>
              <a:defRPr sz="1300">
                <a:solidFill>
                  <a:srgbClr val="F3F3F3"/>
                </a:solidFill>
              </a:defRPr>
            </a:lvl6pPr>
            <a:lvl7pPr lvl="6">
              <a:buNone/>
              <a:defRPr sz="1300">
                <a:solidFill>
                  <a:srgbClr val="F3F3F3"/>
                </a:solidFill>
              </a:defRPr>
            </a:lvl7pPr>
            <a:lvl8pPr lvl="7">
              <a:buNone/>
              <a:defRPr sz="1300">
                <a:solidFill>
                  <a:srgbClr val="F3F3F3"/>
                </a:solidFill>
              </a:defRPr>
            </a:lvl8pPr>
            <a:lvl9pPr lvl="8">
              <a:buNone/>
              <a:defRPr sz="1300">
                <a:solidFill>
                  <a:srgbClr val="F3F3F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90B2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ACCE6"/>
              </a:buClr>
              <a:buSzPts val="3000"/>
              <a:buFont typeface="Inter"/>
              <a:buNone/>
              <a:defRPr sz="3000">
                <a:solidFill>
                  <a:srgbClr val="5ACCE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Char char="●"/>
              <a:defRPr sz="1600">
                <a:solidFill>
                  <a:srgbClr val="F3F3F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200"/>
              <a:buChar char="■"/>
              <a:defRPr sz="1200">
                <a:solidFill>
                  <a:srgbClr val="F3F3F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●"/>
              <a:defRPr>
                <a:solidFill>
                  <a:srgbClr val="F3F3F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3F3F3"/>
              </a:buClr>
              <a:buSzPts val="1400"/>
              <a:buChar char="○"/>
              <a:defRPr>
                <a:solidFill>
                  <a:srgbClr val="F3F3F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3F3F3"/>
              </a:buClr>
              <a:buSzPts val="1400"/>
              <a:buChar char="■"/>
              <a:defRPr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91500" y="139125"/>
            <a:ext cx="394650" cy="394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" y="0"/>
            <a:ext cx="914394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1"/>
          <p:cNvSpPr/>
          <p:nvPr/>
        </p:nvSpPr>
        <p:spPr>
          <a:xfrm>
            <a:off x="0" y="4537550"/>
            <a:ext cx="9144000" cy="6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22" y="944643"/>
            <a:ext cx="2558950" cy="8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 txBox="1"/>
          <p:nvPr>
            <p:ph idx="4294967295" type="ctrTitle"/>
          </p:nvPr>
        </p:nvSpPr>
        <p:spPr>
          <a:xfrm>
            <a:off x="271275" y="1675300"/>
            <a:ext cx="5084700" cy="16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Advisory Board Meeting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May 13th, 2026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54" name="Google Shape;54;p11"/>
          <p:cNvSpPr txBox="1"/>
          <p:nvPr>
            <p:ph idx="4294967295" type="ctrTitle"/>
          </p:nvPr>
        </p:nvSpPr>
        <p:spPr>
          <a:xfrm>
            <a:off x="271275" y="3420295"/>
            <a:ext cx="3927300" cy="5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1050" y="4625125"/>
            <a:ext cx="1312151" cy="4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925" y="4703600"/>
            <a:ext cx="2613375" cy="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ITCR Year 4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Year 4 began May 1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0.8 FTE developer and 0.25 QA tester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Set-aside project with FU Berlin: ~ 4 months 1 FTE total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R03 Year 1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0.5 FTE developer primarily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focused on increasing test coverage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Other aims: FHIRcast extension, dcmjs and dicom-parser modernization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Potential Funding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ITCR supplement proposal submitted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Scope: expand OHIF interoperability via web-API interface with 3D Slicer web server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Funding Update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Extensibility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Recommended: Meet with 3D Slicer team to review extension model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Result: OHIF and 3D Slicer worked closely together and submitted a new joint funding proposal to broaden interoperability between the platforms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Community Feedback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Recommended: Draft community survey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Result: Community usage survey created. Scope of feedback will be expanded following recommendations from this meeting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Contributor Workflow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Recommended: Define lightweight pre-PR design review process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Result: OHIF has dedicated more staff time to PR review and implemented automation in the review process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Breaking Changes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Recommended: Document and announce breaking changes further in advance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Result: OHIF is releasing latest Cornerstone breaking changes to a beta branch first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Action Based on Advisory Board Feedback Feb. 2026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863550"/>
            <a:ext cx="870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Major Changes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Updated Cornerstone to 5.x (beta)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Performed audit of segmentation tool suite: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Overhauled one-click segmentation tool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Bug fixes and optimization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Smart scrollbar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Enhanced crosshairs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Viewport UI improvements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Updated worklist to new UI components. All of OHIF is now on UI-next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Created theming guide to assist with new component adoption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Calibration and measurement tool suite fixes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Currently in testing and refinement phase.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OHIF 3.13 - Expected Release Late May/Early June</a:t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927800"/>
            <a:ext cx="8709300" cy="41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 are seeing a decline in community engagement without a decline in usage metrics, which we attribute to overall AI coding trends 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Thoughts about how OHIF and open source in general should navigate this changing landscape?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have been the biggest changes in your experience?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can we do to support the new dynamic of community members copying the repo and letting AI build on top of it?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What do you want to see OHIF prioritizing to provide more value to the community now?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Initial thoughts:</a:t>
            </a:r>
            <a:endParaRPr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 team of experts is still valuable to support the core and facilitate use of the repos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your teams have experiences related to this, please share!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313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CCE6"/>
                </a:solidFill>
              </a:rPr>
              <a:t>Discussion: Sustainability in Open Source</a:t>
            </a:r>
            <a:endParaRPr>
              <a:solidFill>
                <a:srgbClr val="5ACCE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ACCE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